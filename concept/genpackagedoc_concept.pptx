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4"/>
  </p:notesMasterIdLst>
  <p:sldIdLst>
    <p:sldId id="256" r:id="rId4"/>
    <p:sldId id="259" r:id="rId5"/>
    <p:sldId id="294" r:id="rId6"/>
    <p:sldId id="298" r:id="rId7"/>
    <p:sldId id="300" r:id="rId8"/>
    <p:sldId id="299" r:id="rId9"/>
    <p:sldId id="301" r:id="rId10"/>
    <p:sldId id="302" r:id="rId11"/>
    <p:sldId id="297" r:id="rId12"/>
    <p:sldId id="296" r:id="rId13"/>
  </p:sldIdLst>
  <p:sldSz cx="10969625" cy="6170613"/>
  <p:notesSz cx="6858000" cy="9144000"/>
  <p:custDataLst>
    <p:tags r:id="rId1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19A78B3-BDE7-47D7-A0FD-8288B82DECE0}">
          <p14:sldIdLst>
            <p14:sldId id="256"/>
            <p14:sldId id="259"/>
            <p14:sldId id="294"/>
            <p14:sldId id="298"/>
            <p14:sldId id="300"/>
            <p14:sldId id="299"/>
            <p14:sldId id="301"/>
            <p14:sldId id="302"/>
            <p14:sldId id="297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5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90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21.04.2026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ustom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“Add Quotation”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59200" y="1296000"/>
            <a:ext cx="1045080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3200" y="259078"/>
            <a:ext cx="169200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200" y="259200"/>
            <a:ext cx="104508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8762" y="1296000"/>
            <a:ext cx="104508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0000" y="1295999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96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35" userDrawn="1">
          <p15:clr>
            <a:srgbClr val="FBAE40"/>
          </p15:clr>
        </p15:guide>
        <p15:guide id="9" pos="2462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749" userDrawn="1">
          <p15:clr>
            <a:srgbClr val="FBAE40"/>
          </p15:clr>
        </p15:guide>
        <p15:guide id="9" pos="1829" userDrawn="1">
          <p15:clr>
            <a:srgbClr val="FBAE40"/>
          </p15:clr>
        </p15:guide>
        <p15:guide id="10" pos="3416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82" userDrawn="1">
          <p15:clr>
            <a:srgbClr val="FBAE40"/>
          </p15:clr>
        </p15:guide>
        <p15:guide id="13" pos="51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853600" y="1295999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8536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9096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00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9096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75600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40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  <p15:guide id="12" orient="horz" pos="2090" userDrawn="1">
          <p15:clr>
            <a:srgbClr val="FBAE40"/>
          </p15:clr>
        </p15:guide>
        <p15:guide id="13" orient="horz" pos="21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2905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197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2905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197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1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1200" y="34452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1749" userDrawn="1">
          <p15:clr>
            <a:srgbClr val="FBAE40"/>
          </p15:clr>
        </p15:guide>
        <p15:guide id="11" pos="183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82" userDrawn="1">
          <p15:clr>
            <a:srgbClr val="FBAE40"/>
          </p15:clr>
        </p15:guide>
        <p15:guide id="15" pos="5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 Page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Add Closing Phrase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kern="0" cap="none" spc="0" normalizeH="0" baseline="0" noProof="1">
                <a:ln>
                  <a:noFill/>
                </a:ln>
                <a:solidFill>
                  <a:srgbClr val="D70012"/>
                </a:solidFill>
                <a:effectLst/>
                <a:uLnTx/>
                <a:uFillTx/>
                <a:latin typeface="Bosch Office Sans" pitchFamily="2" charset="0"/>
              </a:rPr>
              <a:t>Internal</a:t>
            </a: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</a:rPr>
              <a:t> |</a:t>
            </a: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b="0" i="0" u="none" kern="0" baseline="0" noProof="1">
                <a:solidFill>
                  <a:srgbClr val="B2B3B5"/>
                </a:solidFill>
                <a:latin typeface="Bosch Office Sans" pitchFamily="2" charset="0"/>
              </a:rPr>
              <a:t>© Robert Bosch Car Multimedia GmbH 2026.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594000" y="5644800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slideLayout" Target="../slideLayouts/slideLayout8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82EB9-F888-4EF5-9BD3-4FB532D11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genpackagedoc</a:t>
            </a:r>
            <a:br>
              <a:rPr lang="de-DE" dirty="0"/>
            </a:br>
            <a:r>
              <a:rPr lang="de-DE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219787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History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2" name="Textfeld 1"/>
          <p:cNvSpPr txBox="1"/>
          <p:nvPr/>
        </p:nvSpPr>
        <p:spPr>
          <a:xfrm>
            <a:off x="266700" y="788565"/>
            <a:ext cx="10144038" cy="46810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08.04.2026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 0.1.0 / draft / XC-HWP/ESW3-Queckenstedt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10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Abgerundete rechteckige Legende 102">
            <a:extLst>
              <a:ext uri="{FF2B5EF4-FFF2-40B4-BE49-F238E27FC236}">
                <a16:creationId xmlns:a16="http://schemas.microsoft.com/office/drawing/2014/main" id="{1EEB32C6-B7AE-D9A6-EACB-9AFACADA1163}"/>
              </a:ext>
            </a:extLst>
          </p:cNvPr>
          <p:cNvSpPr/>
          <p:nvPr/>
        </p:nvSpPr>
        <p:spPr>
          <a:xfrm>
            <a:off x="2272315" y="5003187"/>
            <a:ext cx="1928518" cy="388800"/>
          </a:xfrm>
          <a:prstGeom prst="wedgeRoundRectCallout">
            <a:avLst>
              <a:gd name="adj1" fmla="val -14725"/>
              <a:gd name="adj2" fmla="val -30955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n w="0"/>
              <a:latin typeface="+mn-lt"/>
            </a:endParaRPr>
          </a:p>
        </p:txBody>
      </p:sp>
      <p:sp>
        <p:nvSpPr>
          <p:cNvPr id="56" name="Abgerundete rechteckige Legende 102">
            <a:extLst>
              <a:ext uri="{FF2B5EF4-FFF2-40B4-BE49-F238E27FC236}">
                <a16:creationId xmlns:a16="http://schemas.microsoft.com/office/drawing/2014/main" id="{F4B246B3-482E-63EC-4C14-B0A90198E695}"/>
              </a:ext>
            </a:extLst>
          </p:cNvPr>
          <p:cNvSpPr/>
          <p:nvPr/>
        </p:nvSpPr>
        <p:spPr>
          <a:xfrm>
            <a:off x="2272498" y="5003187"/>
            <a:ext cx="1928335" cy="388800"/>
          </a:xfrm>
          <a:prstGeom prst="wedgeRoundRectCallout">
            <a:avLst>
              <a:gd name="adj1" fmla="val 31064"/>
              <a:gd name="adj2" fmla="val -61560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n w="0"/>
              <a:latin typeface="+mn-lt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/>
              <a:t>Overview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2" name="Textfeld 116">
            <a:extLst>
              <a:ext uri="{FF2B5EF4-FFF2-40B4-BE49-F238E27FC236}">
                <a16:creationId xmlns:a16="http://schemas.microsoft.com/office/drawing/2014/main" id="{F4B0DDB7-7429-B1C7-7789-9ECFC722087F}"/>
              </a:ext>
            </a:extLst>
          </p:cNvPr>
          <p:cNvSpPr txBox="1"/>
          <p:nvPr/>
        </p:nvSpPr>
        <p:spPr>
          <a:xfrm>
            <a:off x="1133593" y="735251"/>
            <a:ext cx="876417" cy="2768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200" b="1" kern="0" dirty="0">
                <a:solidFill>
                  <a:srgbClr val="000000"/>
                </a:solidFill>
              </a:rPr>
              <a:t>RST</a:t>
            </a:r>
          </a:p>
        </p:txBody>
      </p:sp>
      <p:sp>
        <p:nvSpPr>
          <p:cNvPr id="6" name="Rechteck 47">
            <a:extLst>
              <a:ext uri="{FF2B5EF4-FFF2-40B4-BE49-F238E27FC236}">
                <a16:creationId xmlns:a16="http://schemas.microsoft.com/office/drawing/2014/main" id="{D4462B5C-A5CE-A8C1-9A37-2DD982E0106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2742" y="1094477"/>
            <a:ext cx="2201796" cy="34437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Rechteck 69">
            <a:extLst>
              <a:ext uri="{FF2B5EF4-FFF2-40B4-BE49-F238E27FC236}">
                <a16:creationId xmlns:a16="http://schemas.microsoft.com/office/drawing/2014/main" id="{33D8B414-BA54-AE63-73D7-79BB85C0FB6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8484" y="1202101"/>
            <a:ext cx="1914481" cy="1485119"/>
          </a:xfrm>
          <a:prstGeom prst="rect">
            <a:avLst/>
          </a:prstGeom>
          <a:solidFill>
            <a:srgbClr val="CCFFFF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20" name="Rechteck 49">
            <a:extLst>
              <a:ext uri="{FF2B5EF4-FFF2-40B4-BE49-F238E27FC236}">
                <a16:creationId xmlns:a16="http://schemas.microsoft.com/office/drawing/2014/main" id="{F36F1571-ECD0-A6DE-CB37-879FA6A2772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29844" y="1536641"/>
            <a:ext cx="1480166" cy="1010879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9" name="Textfeld 50">
            <a:extLst>
              <a:ext uri="{FF2B5EF4-FFF2-40B4-BE49-F238E27FC236}">
                <a16:creationId xmlns:a16="http://schemas.microsoft.com/office/drawing/2014/main" id="{48101EE1-88F4-FF9B-EF1F-0CA1016D70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26245" y="1638006"/>
            <a:ext cx="1316855" cy="7950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.. </a:t>
            </a: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pythoncode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.. robotcode::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.. jsoncode::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.. consolelog::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.. filesystem::</a:t>
            </a:r>
          </a:p>
          <a:p>
            <a:pPr>
              <a:spcBef>
                <a:spcPts val="0"/>
              </a:spcBef>
            </a:pP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feld 48">
            <a:extLst>
              <a:ext uri="{FF2B5EF4-FFF2-40B4-BE49-F238E27FC236}">
                <a16:creationId xmlns:a16="http://schemas.microsoft.com/office/drawing/2014/main" id="{A4B2E78F-4572-565A-C8BF-8B0963783275}"/>
              </a:ext>
            </a:extLst>
          </p:cNvPr>
          <p:cNvSpPr txBox="1"/>
          <p:nvPr/>
        </p:nvSpPr>
        <p:spPr>
          <a:xfrm>
            <a:off x="447111" y="1287482"/>
            <a:ext cx="1914481" cy="2879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solidFill>
                  <a:srgbClr val="000000"/>
                </a:solidFill>
              </a:rPr>
              <a:t>Markdown</a:t>
            </a:r>
            <a:r>
              <a:rPr lang="de-DE" sz="1000" kern="0" dirty="0">
                <a:solidFill>
                  <a:srgbClr val="000000"/>
                </a:solidFill>
              </a:rPr>
              <a:t> </a:t>
            </a:r>
            <a:r>
              <a:rPr lang="de-DE" sz="1000" kern="0" dirty="0" err="1">
                <a:solidFill>
                  <a:srgbClr val="000000"/>
                </a:solidFill>
              </a:rPr>
              <a:t>Directive</a:t>
            </a:r>
            <a:r>
              <a:rPr lang="de-DE" sz="1000" kern="0" dirty="0">
                <a:solidFill>
                  <a:srgbClr val="000000"/>
                </a:solidFill>
              </a:rPr>
              <a:t> 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text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block)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Rechteck 69">
            <a:extLst>
              <a:ext uri="{FF2B5EF4-FFF2-40B4-BE49-F238E27FC236}">
                <a16:creationId xmlns:a16="http://schemas.microsoft.com/office/drawing/2014/main" id="{DC872DB9-A8C5-0C93-BA98-5963291F66D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73247" y="2907313"/>
            <a:ext cx="1929718" cy="1484654"/>
          </a:xfrm>
          <a:prstGeom prst="rect">
            <a:avLst/>
          </a:prstGeom>
          <a:solidFill>
            <a:srgbClr val="CCFFFF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23" name="Rechteck 49">
            <a:extLst>
              <a:ext uri="{FF2B5EF4-FFF2-40B4-BE49-F238E27FC236}">
                <a16:creationId xmlns:a16="http://schemas.microsoft.com/office/drawing/2014/main" id="{BFDB9E34-32F2-11D1-41DE-3449698700E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29844" y="3243485"/>
            <a:ext cx="1480166" cy="1002454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24" name="Textfeld 50">
            <a:extLst>
              <a:ext uri="{FF2B5EF4-FFF2-40B4-BE49-F238E27FC236}">
                <a16:creationId xmlns:a16="http://schemas.microsoft.com/office/drawing/2014/main" id="{97792252-2E81-1325-BE57-D2BB5C204CA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26245" y="3344850"/>
            <a:ext cx="1093475" cy="8335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pcode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:`…`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rcode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:`…`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jcode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:`…`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:`…`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fsystem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:`…`</a:t>
            </a:r>
          </a:p>
        </p:txBody>
      </p:sp>
      <p:sp>
        <p:nvSpPr>
          <p:cNvPr id="25" name="Textfeld 48">
            <a:extLst>
              <a:ext uri="{FF2B5EF4-FFF2-40B4-BE49-F238E27FC236}">
                <a16:creationId xmlns:a16="http://schemas.microsoft.com/office/drawing/2014/main" id="{6900E193-5BFA-5818-92D1-9DC75CDC3A51}"/>
              </a:ext>
            </a:extLst>
          </p:cNvPr>
          <p:cNvSpPr txBox="1"/>
          <p:nvPr/>
        </p:nvSpPr>
        <p:spPr>
          <a:xfrm>
            <a:off x="454127" y="3019139"/>
            <a:ext cx="1645269" cy="2243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solidFill>
                  <a:srgbClr val="000000"/>
                </a:solidFill>
              </a:rPr>
              <a:t>Markdown</a:t>
            </a:r>
            <a:r>
              <a:rPr lang="de-DE" sz="1000" kern="0" dirty="0">
                <a:solidFill>
                  <a:srgbClr val="000000"/>
                </a:solidFill>
              </a:rPr>
              <a:t> </a:t>
            </a:r>
            <a:r>
              <a:rPr lang="de-DE" sz="1000" kern="0" dirty="0" err="1">
                <a:solidFill>
                  <a:srgbClr val="000000"/>
                </a:solidFill>
              </a:rPr>
              <a:t>Role</a:t>
            </a:r>
            <a:r>
              <a:rPr lang="de-DE" sz="1000" kern="0" dirty="0">
                <a:solidFill>
                  <a:srgbClr val="000000"/>
                </a:solidFill>
              </a:rPr>
              <a:t> 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(inline)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" name="Textfeld 116">
            <a:extLst>
              <a:ext uri="{FF2B5EF4-FFF2-40B4-BE49-F238E27FC236}">
                <a16:creationId xmlns:a16="http://schemas.microsoft.com/office/drawing/2014/main" id="{3BEA7DBB-DA84-328A-27F2-9FED3A96E0B4}"/>
              </a:ext>
            </a:extLst>
          </p:cNvPr>
          <p:cNvSpPr txBox="1"/>
          <p:nvPr/>
        </p:nvSpPr>
        <p:spPr>
          <a:xfrm>
            <a:off x="5717258" y="2017295"/>
            <a:ext cx="876417" cy="2768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200" b="1" kern="0" dirty="0" err="1">
                <a:solidFill>
                  <a:srgbClr val="000000"/>
                </a:solidFill>
              </a:rPr>
              <a:t>LaTeX</a:t>
            </a:r>
            <a:r>
              <a:rPr lang="de-DE" sz="1200" b="1" kern="0" dirty="0">
                <a:solidFill>
                  <a:srgbClr val="000000"/>
                </a:solidFill>
              </a:rPr>
              <a:t>/PDF</a:t>
            </a:r>
          </a:p>
        </p:txBody>
      </p:sp>
      <p:sp>
        <p:nvSpPr>
          <p:cNvPr id="27" name="Rechteck 47">
            <a:extLst>
              <a:ext uri="{FF2B5EF4-FFF2-40B4-BE49-F238E27FC236}">
                <a16:creationId xmlns:a16="http://schemas.microsoft.com/office/drawing/2014/main" id="{A7E588C9-30A6-7581-FBD5-91A4874BEB4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429306" y="2350234"/>
            <a:ext cx="3452746" cy="32343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28" name="Rechteck 69">
            <a:extLst>
              <a:ext uri="{FF2B5EF4-FFF2-40B4-BE49-F238E27FC236}">
                <a16:creationId xmlns:a16="http://schemas.microsoft.com/office/drawing/2014/main" id="{E5F8BD3F-25C7-6382-F512-C99D938EB3C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555677" y="2492214"/>
            <a:ext cx="3237475" cy="1383854"/>
          </a:xfrm>
          <a:prstGeom prst="rect">
            <a:avLst/>
          </a:prstGeom>
          <a:solidFill>
            <a:srgbClr val="CCFFFF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29" name="Rechteck 49">
            <a:extLst>
              <a:ext uri="{FF2B5EF4-FFF2-40B4-BE49-F238E27FC236}">
                <a16:creationId xmlns:a16="http://schemas.microsoft.com/office/drawing/2014/main" id="{12641782-F110-A838-B517-335E3C900CC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76721" y="2817967"/>
            <a:ext cx="3018803" cy="949467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30" name="Textfeld 50">
            <a:extLst>
              <a:ext uri="{FF2B5EF4-FFF2-40B4-BE49-F238E27FC236}">
                <a16:creationId xmlns:a16="http://schemas.microsoft.com/office/drawing/2014/main" id="{0DC3FEF8-511C-0854-A6F3-6361C268BD5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773123" y="2919333"/>
            <a:ext cx="2867629" cy="870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pythoncode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… \end{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pythoncode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{robotcode} … \end{robotcode}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{jsoncode} … \end{jsoncode}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{consolelog} … \end{consolelog}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{filesystem} … \end{filesystem}</a:t>
            </a:r>
          </a:p>
        </p:txBody>
      </p:sp>
      <p:sp>
        <p:nvSpPr>
          <p:cNvPr id="31" name="Textfeld 48">
            <a:extLst>
              <a:ext uri="{FF2B5EF4-FFF2-40B4-BE49-F238E27FC236}">
                <a16:creationId xmlns:a16="http://schemas.microsoft.com/office/drawing/2014/main" id="{73F5AE0D-1CEB-5FDC-C26D-A4D52C686E74}"/>
              </a:ext>
            </a:extLst>
          </p:cNvPr>
          <p:cNvSpPr txBox="1"/>
          <p:nvPr/>
        </p:nvSpPr>
        <p:spPr>
          <a:xfrm>
            <a:off x="4613676" y="2577595"/>
            <a:ext cx="3132929" cy="2879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solidFill>
                  <a:srgbClr val="000000"/>
                </a:solidFill>
              </a:rPr>
              <a:t>LaTeX</a:t>
            </a:r>
            <a:r>
              <a:rPr lang="de-DE" sz="1000" kern="0" dirty="0">
                <a:solidFill>
                  <a:srgbClr val="000000"/>
                </a:solidFill>
              </a:rPr>
              <a:t> Environment 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listings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r>
              <a:rPr lang="de-DE" sz="1000" kern="0" dirty="0">
                <a:solidFill>
                  <a:srgbClr val="000000"/>
                </a:solidFill>
              </a:rPr>
              <a:t> - </a:t>
            </a:r>
            <a:r>
              <a:rPr lang="de-DE" sz="1000" kern="0" dirty="0" err="1">
                <a:solidFill>
                  <a:srgbClr val="000000"/>
                </a:solidFill>
              </a:rPr>
              <a:t>robotframeworkaio.sty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2" name="Rechteck 69">
            <a:extLst>
              <a:ext uri="{FF2B5EF4-FFF2-40B4-BE49-F238E27FC236}">
                <a16:creationId xmlns:a16="http://schemas.microsoft.com/office/drawing/2014/main" id="{751242AE-8DE4-481C-089D-4A329838A05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539811" y="4064076"/>
            <a:ext cx="3237475" cy="1428674"/>
          </a:xfrm>
          <a:prstGeom prst="rect">
            <a:avLst/>
          </a:prstGeom>
          <a:solidFill>
            <a:srgbClr val="CCFFFF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33" name="Rechteck 49">
            <a:extLst>
              <a:ext uri="{FF2B5EF4-FFF2-40B4-BE49-F238E27FC236}">
                <a16:creationId xmlns:a16="http://schemas.microsoft.com/office/drawing/2014/main" id="{09E29152-CA9C-BA88-13FB-7CEA59A35B7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676721" y="4423928"/>
            <a:ext cx="1022083" cy="956671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34" name="Textfeld 50">
            <a:extLst>
              <a:ext uri="{FF2B5EF4-FFF2-40B4-BE49-F238E27FC236}">
                <a16:creationId xmlns:a16="http://schemas.microsoft.com/office/drawing/2014/main" id="{C21D10D3-BB62-8B01-97D8-A50A7C2779B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773123" y="4525294"/>
            <a:ext cx="925682" cy="8087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</a:pPr>
            <a:r>
              <a:rPr lang="de-DE" sz="1000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pcode</a:t>
            </a:r>
            <a:r>
              <a:rPr lang="de-DE" sz="1000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rcode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jcode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fsystem</a:t>
            </a: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feld 48">
            <a:extLst>
              <a:ext uri="{FF2B5EF4-FFF2-40B4-BE49-F238E27FC236}">
                <a16:creationId xmlns:a16="http://schemas.microsoft.com/office/drawing/2014/main" id="{939DE0A6-4505-E3C6-746E-772D1026FBFD}"/>
              </a:ext>
            </a:extLst>
          </p:cNvPr>
          <p:cNvSpPr txBox="1"/>
          <p:nvPr/>
        </p:nvSpPr>
        <p:spPr>
          <a:xfrm>
            <a:off x="4620692" y="4175902"/>
            <a:ext cx="3172460" cy="2192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solidFill>
                  <a:srgbClr val="000000"/>
                </a:solidFill>
              </a:rPr>
              <a:t>LaTeX</a:t>
            </a:r>
            <a:r>
              <a:rPr lang="de-DE" sz="1000" kern="0" dirty="0">
                <a:solidFill>
                  <a:srgbClr val="000000"/>
                </a:solidFill>
              </a:rPr>
              <a:t> Command (</a:t>
            </a:r>
            <a:r>
              <a:rPr lang="de-DE" sz="1000" kern="0" dirty="0" err="1">
                <a:solidFill>
                  <a:srgbClr val="000000"/>
                </a:solidFill>
              </a:rPr>
              <a:t>listings</a:t>
            </a:r>
            <a:r>
              <a:rPr lang="de-DE" sz="1000" kern="0" dirty="0">
                <a:solidFill>
                  <a:srgbClr val="000000"/>
                </a:solidFill>
              </a:rPr>
              <a:t>) - </a:t>
            </a:r>
            <a:r>
              <a:rPr lang="de-DE" sz="1000" kern="0" dirty="0" err="1">
                <a:solidFill>
                  <a:srgbClr val="000000"/>
                </a:solidFill>
              </a:rPr>
              <a:t>robotframeworkaio.sty</a:t>
            </a:r>
            <a:endParaRPr lang="en-US" sz="1000" kern="0" dirty="0">
              <a:solidFill>
                <a:srgbClr val="000000"/>
              </a:solidFill>
            </a:endParaRPr>
          </a:p>
        </p:txBody>
      </p:sp>
      <p:cxnSp>
        <p:nvCxnSpPr>
          <p:cNvPr id="36" name="Straight Arrow Connector 141">
            <a:extLst>
              <a:ext uri="{FF2B5EF4-FFF2-40B4-BE49-F238E27FC236}">
                <a16:creationId xmlns:a16="http://schemas.microsoft.com/office/drawing/2014/main" id="{99663D5D-34D2-27B6-2B9F-A195EEC4EA9B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>
            <a:off x="2302965" y="1944661"/>
            <a:ext cx="2252712" cy="1239480"/>
          </a:xfrm>
          <a:prstGeom prst="straightConnector1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141">
            <a:extLst>
              <a:ext uri="{FF2B5EF4-FFF2-40B4-BE49-F238E27FC236}">
                <a16:creationId xmlns:a16="http://schemas.microsoft.com/office/drawing/2014/main" id="{78B533B6-C113-F8CE-2C87-5A206BD5742D}"/>
              </a:ext>
            </a:extLst>
          </p:cNvPr>
          <p:cNvCxnSpPr>
            <a:cxnSpLocks/>
            <a:stCxn id="22" idx="3"/>
            <a:endCxn id="32" idx="1"/>
          </p:cNvCxnSpPr>
          <p:nvPr/>
        </p:nvCxnSpPr>
        <p:spPr>
          <a:xfrm>
            <a:off x="2302965" y="3649640"/>
            <a:ext cx="2236846" cy="1128773"/>
          </a:xfrm>
          <a:prstGeom prst="straightConnector1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 47">
            <a:extLst>
              <a:ext uri="{FF2B5EF4-FFF2-40B4-BE49-F238E27FC236}">
                <a16:creationId xmlns:a16="http://schemas.microsoft.com/office/drawing/2014/main" id="{8D20921B-A157-28E6-B68B-163040A802F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700379" y="1147057"/>
            <a:ext cx="1928335" cy="24091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45" name="Rechteck 69">
            <a:extLst>
              <a:ext uri="{FF2B5EF4-FFF2-40B4-BE49-F238E27FC236}">
                <a16:creationId xmlns:a16="http://schemas.microsoft.com/office/drawing/2014/main" id="{F6A46162-E1DB-C402-ACC9-38034C796F7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826122" y="1254680"/>
            <a:ext cx="1638744" cy="2188788"/>
          </a:xfrm>
          <a:prstGeom prst="rect">
            <a:avLst/>
          </a:prstGeom>
          <a:solidFill>
            <a:srgbClr val="CCFFFF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46" name="Rechteck 49">
            <a:extLst>
              <a:ext uri="{FF2B5EF4-FFF2-40B4-BE49-F238E27FC236}">
                <a16:creationId xmlns:a16="http://schemas.microsoft.com/office/drawing/2014/main" id="{9CE9C74A-0EFA-F7BD-892D-A305AB860A1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8967481" y="1589220"/>
            <a:ext cx="1356114" cy="1728581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47" name="Textfeld 50">
            <a:extLst>
              <a:ext uri="{FF2B5EF4-FFF2-40B4-BE49-F238E27FC236}">
                <a16:creationId xmlns:a16="http://schemas.microsoft.com/office/drawing/2014/main" id="{C4AF4BA3-7023-B84D-FEE8-894AC6C46E7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063882" y="1690587"/>
            <a:ext cx="1153333" cy="15410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pythoncode.css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robotcode.css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jsoncode.css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consolelog.css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filesystem.css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pcode.css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rcode.css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jcode.css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clog.css</a:t>
            </a:r>
          </a:p>
          <a:p>
            <a:pPr>
              <a:spcBef>
                <a:spcPts val="0"/>
              </a:spcBef>
            </a:pPr>
            <a:r>
              <a:rPr lang="de-DE" sz="1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fsystem.css</a:t>
            </a:r>
          </a:p>
        </p:txBody>
      </p:sp>
      <p:sp>
        <p:nvSpPr>
          <p:cNvPr id="48" name="Textfeld 48">
            <a:extLst>
              <a:ext uri="{FF2B5EF4-FFF2-40B4-BE49-F238E27FC236}">
                <a16:creationId xmlns:a16="http://schemas.microsoft.com/office/drawing/2014/main" id="{418F3544-6493-6B56-086C-15BC9B5254C6}"/>
              </a:ext>
            </a:extLst>
          </p:cNvPr>
          <p:cNvSpPr txBox="1"/>
          <p:nvPr/>
        </p:nvSpPr>
        <p:spPr>
          <a:xfrm>
            <a:off x="8884748" y="1340062"/>
            <a:ext cx="1914481" cy="2879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solidFill>
                  <a:srgbClr val="000000"/>
                </a:solidFill>
              </a:rPr>
              <a:t>stylesheets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3" name="Textfeld 116">
            <a:extLst>
              <a:ext uri="{FF2B5EF4-FFF2-40B4-BE49-F238E27FC236}">
                <a16:creationId xmlns:a16="http://schemas.microsoft.com/office/drawing/2014/main" id="{C5975DCC-59CA-274A-58D1-5D4C2A9C41BD}"/>
              </a:ext>
            </a:extLst>
          </p:cNvPr>
          <p:cNvSpPr txBox="1"/>
          <p:nvPr/>
        </p:nvSpPr>
        <p:spPr>
          <a:xfrm>
            <a:off x="9048816" y="794304"/>
            <a:ext cx="1346140" cy="2768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200" b="1" kern="0" dirty="0" err="1">
                <a:solidFill>
                  <a:srgbClr val="000000"/>
                </a:solidFill>
              </a:rPr>
              <a:t>Pygments</a:t>
            </a:r>
            <a:r>
              <a:rPr lang="de-DE" sz="1200" b="1" kern="0" dirty="0">
                <a:solidFill>
                  <a:srgbClr val="000000"/>
                </a:solidFill>
              </a:rPr>
              <a:t>/HTML</a:t>
            </a:r>
          </a:p>
        </p:txBody>
      </p:sp>
      <p:cxnSp>
        <p:nvCxnSpPr>
          <p:cNvPr id="5" name="Straight Arrow Connector 141">
            <a:extLst>
              <a:ext uri="{FF2B5EF4-FFF2-40B4-BE49-F238E27FC236}">
                <a16:creationId xmlns:a16="http://schemas.microsoft.com/office/drawing/2014/main" id="{4213E276-FAA5-C304-5803-11E746EBDDB5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464538" y="1704476"/>
            <a:ext cx="2723224" cy="1111877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1">
            <a:extLst>
              <a:ext uri="{FF2B5EF4-FFF2-40B4-BE49-F238E27FC236}">
                <a16:creationId xmlns:a16="http://schemas.microsoft.com/office/drawing/2014/main" id="{ECC8CFAE-FB27-038F-48A0-A3DAD914C96B}"/>
              </a:ext>
            </a:extLst>
          </p:cNvPr>
          <p:cNvCxnSpPr>
            <a:cxnSpLocks/>
            <a:stCxn id="27" idx="3"/>
            <a:endCxn id="44" idx="2"/>
          </p:cNvCxnSpPr>
          <p:nvPr/>
        </p:nvCxnSpPr>
        <p:spPr>
          <a:xfrm flipV="1">
            <a:off x="7882052" y="3556254"/>
            <a:ext cx="1782495" cy="41114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ultiplikationszeichen 18">
            <a:extLst>
              <a:ext uri="{FF2B5EF4-FFF2-40B4-BE49-F238E27FC236}">
                <a16:creationId xmlns:a16="http://schemas.microsoft.com/office/drawing/2014/main" id="{F8AF8999-7063-A29C-F947-E17546F96C09}"/>
              </a:ext>
            </a:extLst>
          </p:cNvPr>
          <p:cNvSpPr/>
          <p:nvPr/>
        </p:nvSpPr>
        <p:spPr>
          <a:xfrm>
            <a:off x="8202308" y="3662817"/>
            <a:ext cx="413959" cy="351009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FAF7607-977B-C473-4B47-44C1425891DE}"/>
              </a:ext>
            </a:extLst>
          </p:cNvPr>
          <p:cNvSpPr txBox="1"/>
          <p:nvPr/>
        </p:nvSpPr>
        <p:spPr>
          <a:xfrm>
            <a:off x="2350824" y="5014574"/>
            <a:ext cx="1850192" cy="366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solidFill>
                  <a:srgbClr val="000000"/>
                </a:solidFill>
              </a:rPr>
              <a:t>CustomLaTeXTranslator</a:t>
            </a:r>
            <a:r>
              <a:rPr lang="de-DE" sz="1000" kern="0" dirty="0">
                <a:solidFill>
                  <a:srgbClr val="000000"/>
                </a:solidFill>
              </a:rPr>
              <a:t>/Writer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8" name="Abgerundete rechteckige Legende 102">
            <a:extLst>
              <a:ext uri="{FF2B5EF4-FFF2-40B4-BE49-F238E27FC236}">
                <a16:creationId xmlns:a16="http://schemas.microsoft.com/office/drawing/2014/main" id="{ABE60E77-766F-8191-4863-B643C1FEF3B5}"/>
              </a:ext>
            </a:extLst>
          </p:cNvPr>
          <p:cNvSpPr/>
          <p:nvPr/>
        </p:nvSpPr>
        <p:spPr>
          <a:xfrm>
            <a:off x="8616267" y="4205614"/>
            <a:ext cx="934805" cy="259627"/>
          </a:xfrm>
          <a:prstGeom prst="wedgeRoundRectCallout">
            <a:avLst>
              <a:gd name="adj1" fmla="val -57041"/>
              <a:gd name="adj2" fmla="val -14387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n w="0"/>
              <a:solidFill>
                <a:schemeClr val="dk1"/>
              </a:solidFill>
              <a:latin typeface="+mn-lt"/>
            </a:endParaRPr>
          </a:p>
        </p:txBody>
      </p:sp>
      <p:sp>
        <p:nvSpPr>
          <p:cNvPr id="59" name="Textfeld 101">
            <a:extLst>
              <a:ext uri="{FF2B5EF4-FFF2-40B4-BE49-F238E27FC236}">
                <a16:creationId xmlns:a16="http://schemas.microsoft.com/office/drawing/2014/main" id="{D654E760-AC2F-14FE-7670-A6DF43D7C264}"/>
              </a:ext>
            </a:extLst>
          </p:cNvPr>
          <p:cNvSpPr txBox="1"/>
          <p:nvPr/>
        </p:nvSpPr>
        <p:spPr>
          <a:xfrm>
            <a:off x="8710984" y="4246743"/>
            <a:ext cx="840088" cy="2184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Not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supported</a:t>
            </a: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Abgerundete rechteckige Legende 102">
            <a:extLst>
              <a:ext uri="{FF2B5EF4-FFF2-40B4-BE49-F238E27FC236}">
                <a16:creationId xmlns:a16="http://schemas.microsoft.com/office/drawing/2014/main" id="{4E6FA095-917C-B928-17F8-D528276714DB}"/>
              </a:ext>
            </a:extLst>
          </p:cNvPr>
          <p:cNvSpPr/>
          <p:nvPr/>
        </p:nvSpPr>
        <p:spPr>
          <a:xfrm>
            <a:off x="2911082" y="1156742"/>
            <a:ext cx="1928335" cy="388800"/>
          </a:xfrm>
          <a:prstGeom prst="wedgeRoundRectCallout">
            <a:avLst>
              <a:gd name="adj1" fmla="val 41510"/>
              <a:gd name="adj2" fmla="val 14094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n w="0"/>
              <a:latin typeface="+mn-lt"/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E2DCABF6-1F4E-F8BB-A16F-D7F208AA2A40}"/>
              </a:ext>
            </a:extLst>
          </p:cNvPr>
          <p:cNvSpPr txBox="1"/>
          <p:nvPr/>
        </p:nvSpPr>
        <p:spPr>
          <a:xfrm>
            <a:off x="2989408" y="1168129"/>
            <a:ext cx="1850009" cy="366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solidFill>
                  <a:srgbClr val="000000"/>
                </a:solidFill>
              </a:rPr>
              <a:t>CustomHTMLTranslator</a:t>
            </a:r>
            <a:r>
              <a:rPr lang="de-DE" sz="1000" kern="0" dirty="0">
                <a:solidFill>
                  <a:srgbClr val="000000"/>
                </a:solidFill>
              </a:rPr>
              <a:t>/Writer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7" name="Straight Arrow Connector 141">
            <a:extLst>
              <a:ext uri="{FF2B5EF4-FFF2-40B4-BE49-F238E27FC236}">
                <a16:creationId xmlns:a16="http://schemas.microsoft.com/office/drawing/2014/main" id="{F83D3879-7290-0B0A-123B-EB57958114C4}"/>
              </a:ext>
            </a:extLst>
          </p:cNvPr>
          <p:cNvCxnSpPr>
            <a:cxnSpLocks/>
          </p:cNvCxnSpPr>
          <p:nvPr/>
        </p:nvCxnSpPr>
        <p:spPr>
          <a:xfrm>
            <a:off x="5167821" y="1702747"/>
            <a:ext cx="3532112" cy="27167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63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0D5B29-DB72-64D2-FF51-DB3607984B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Language Elements (</a:t>
            </a:r>
            <a:r>
              <a:rPr lang="de-DE" dirty="0" err="1"/>
              <a:t>Overview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FD88E2-6E91-7388-B7B6-DEA9CA94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DC2F9518-194D-331A-795B-BAADE6EF3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47031"/>
              </p:ext>
            </p:extLst>
          </p:nvPr>
        </p:nvGraphicFramePr>
        <p:xfrm>
          <a:off x="253218" y="815456"/>
          <a:ext cx="10220179" cy="4558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02788">
                  <a:extLst>
                    <a:ext uri="{9D8B030D-6E8A-4147-A177-3AD203B41FA5}">
                      <a16:colId xmlns:a16="http://schemas.microsoft.com/office/drawing/2014/main" val="43910445"/>
                    </a:ext>
                  </a:extLst>
                </a:gridCol>
                <a:gridCol w="9017391">
                  <a:extLst>
                    <a:ext uri="{9D8B030D-6E8A-4147-A177-3AD203B41FA5}">
                      <a16:colId xmlns:a16="http://schemas.microsoft.com/office/drawing/2014/main" val="3741258493"/>
                    </a:ext>
                  </a:extLst>
                </a:gridCol>
              </a:tblGrid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51498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pythoncode</a:t>
                      </a:r>
                      <a:endParaRPr lang="de-DE" sz="1000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Python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43894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</a:t>
                      </a:r>
                      <a:r>
                        <a:rPr lang="de-DE" sz="1000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Python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small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decreased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(PDF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only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), in HTML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mapped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pythoncode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488654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Robot Framework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syntax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46556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</a:t>
                      </a:r>
                      <a:r>
                        <a:rPr lang="de-DE" sz="1000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Robot Framework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small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decreased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(PDF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only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), in HTML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mapped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robotcode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syntax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37628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jsoncode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JSON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11061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json</a:t>
                      </a:r>
                      <a:r>
                        <a:rPr lang="de-DE" sz="1000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JSON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small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decreased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(PDF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only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), in HTML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mapped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jsoncode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19048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Console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logfile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97290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</a:t>
                      </a:r>
                      <a:r>
                        <a:rPr lang="de-DE" sz="1000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Console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logfile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decreased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(PDF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only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), in HTML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mapped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consolelog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86618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filesystem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File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system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625314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file</a:t>
                      </a:r>
                      <a:r>
                        <a:rPr lang="de-DE" sz="1000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sz="10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File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system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block),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decreased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(PDF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only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), in HTML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mapped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filesystem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221716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pcode</a:t>
                      </a:r>
                      <a:endParaRPr lang="de-DE" sz="1000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Python inline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023188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rcode</a:t>
                      </a:r>
                      <a:endParaRPr lang="de-DE" sz="1000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Robot Framework inline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281059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jcode</a:t>
                      </a:r>
                      <a:endParaRPr lang="de-DE" sz="1000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JSON inline code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159977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clog</a:t>
                      </a:r>
                      <a:endParaRPr lang="de-DE" sz="1000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Inline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console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logfile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98956"/>
                  </a:ext>
                </a:extLst>
              </a:tr>
              <a:tr h="284900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fsystem</a:t>
                      </a:r>
                      <a:endParaRPr lang="de-DE" sz="1000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Inline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file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system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listing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standard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font</a:t>
                      </a:r>
                      <a:r>
                        <a:rPr lang="de-D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i="0" dirty="0" err="1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r>
                        <a:rPr lang="de-DE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highlighting</a:t>
                      </a:r>
                      <a:endParaRPr lang="de-DE" sz="10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867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67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A317-7240-4B75-0B22-BC896183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3A7948-EAB2-1A8C-E57C-BA211E8FA7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Language Elements (Textblocks)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5FEA5F-4A2F-EC8F-B2CD-47C65A6C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5DA454BA-A104-A48D-DB55-FB60A92F8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687351"/>
              </p:ext>
            </p:extLst>
          </p:nvPr>
        </p:nvGraphicFramePr>
        <p:xfrm>
          <a:off x="259200" y="815455"/>
          <a:ext cx="10298733" cy="41904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32911">
                  <a:extLst>
                    <a:ext uri="{9D8B030D-6E8A-4147-A177-3AD203B41FA5}">
                      <a16:colId xmlns:a16="http://schemas.microsoft.com/office/drawing/2014/main" val="43910445"/>
                    </a:ext>
                  </a:extLst>
                </a:gridCol>
                <a:gridCol w="3432911">
                  <a:extLst>
                    <a:ext uri="{9D8B030D-6E8A-4147-A177-3AD203B41FA5}">
                      <a16:colId xmlns:a16="http://schemas.microsoft.com/office/drawing/2014/main" val="3741258493"/>
                    </a:ext>
                  </a:extLst>
                </a:gridCol>
                <a:gridCol w="3432911">
                  <a:extLst>
                    <a:ext uri="{9D8B030D-6E8A-4147-A177-3AD203B41FA5}">
                      <a16:colId xmlns:a16="http://schemas.microsoft.com/office/drawing/2014/main" val="2562324463"/>
                    </a:ext>
                  </a:extLst>
                </a:gridCol>
              </a:tblGrid>
              <a:tr h="376203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LaTeX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/PDF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Pygments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/HTML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5149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pythoncode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pythoncode</a:t>
                      </a:r>
                      <a:endParaRPr lang="de-DE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4389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pythoncode.css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48865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robotcode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robotcode.css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46556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robotcode.css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3762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jsoncode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jsoncode</a:t>
                      </a:r>
                      <a:endParaRPr lang="de-DE" sz="1800" kern="120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ea typeface="+mn-ea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jsoncode.css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11061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json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json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code</a:t>
                      </a:r>
                      <a:endParaRPr lang="de-DE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jsoncode.css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1904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consolelog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consolelog.css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97290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log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consolelog.css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8661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filesystem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filesystem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filesystem.css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62531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file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file</a:t>
                      </a:r>
                      <a:r>
                        <a:rPr lang="de-DE" b="1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system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filesystem.css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221716"/>
                  </a:ext>
                </a:extLst>
              </a:tr>
            </a:tbl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BDD48D1B-B86C-51EF-AAAF-66E2E7488223}"/>
              </a:ext>
            </a:extLst>
          </p:cNvPr>
          <p:cNvSpPr txBox="1"/>
          <p:nvPr/>
        </p:nvSpPr>
        <p:spPr>
          <a:xfrm>
            <a:off x="266700" y="5005938"/>
            <a:ext cx="6492826" cy="410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Mapping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between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markdown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syntax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element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(RST),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LaTeX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syntax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element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(PDF) and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css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stylesheet</a:t>
            </a:r>
            <a:r>
              <a:rPr lang="de-DE" sz="900" i="1" kern="0" dirty="0">
                <a:solidFill>
                  <a:srgbClr val="000000"/>
                </a:solidFill>
              </a:rPr>
              <a:t> (HTML).</a:t>
            </a:r>
            <a:endParaRPr kumimoji="0" lang="de-DE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78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47723-A201-57FA-198F-4000BE5F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695545-6B96-C4D8-49C5-82994E2E31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Language Elements (Inline)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648A5C-0E74-D6DF-D804-9B4A651D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BD0C6A7-470D-9837-A332-88449C893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019205"/>
              </p:ext>
            </p:extLst>
          </p:nvPr>
        </p:nvGraphicFramePr>
        <p:xfrm>
          <a:off x="259200" y="815455"/>
          <a:ext cx="10298733" cy="228334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32911">
                  <a:extLst>
                    <a:ext uri="{9D8B030D-6E8A-4147-A177-3AD203B41FA5}">
                      <a16:colId xmlns:a16="http://schemas.microsoft.com/office/drawing/2014/main" val="43910445"/>
                    </a:ext>
                  </a:extLst>
                </a:gridCol>
                <a:gridCol w="2884535">
                  <a:extLst>
                    <a:ext uri="{9D8B030D-6E8A-4147-A177-3AD203B41FA5}">
                      <a16:colId xmlns:a16="http://schemas.microsoft.com/office/drawing/2014/main" val="3741258493"/>
                    </a:ext>
                  </a:extLst>
                </a:gridCol>
                <a:gridCol w="3981287">
                  <a:extLst>
                    <a:ext uri="{9D8B030D-6E8A-4147-A177-3AD203B41FA5}">
                      <a16:colId xmlns:a16="http://schemas.microsoft.com/office/drawing/2014/main" val="2562324463"/>
                    </a:ext>
                  </a:extLst>
                </a:gridCol>
              </a:tblGrid>
              <a:tr h="376203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LaTeX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/PDF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Pygments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/HTML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5149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pcode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pcode</a:t>
                      </a:r>
                      <a:endParaRPr lang="de-DE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4389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rcode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rcode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rcode.css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48865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jcode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jcode</a:t>
                      </a:r>
                      <a:endParaRPr lang="de-DE" i="1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jcode.css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46556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clog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clog</a:t>
                      </a:r>
                      <a:endParaRPr lang="de-DE" i="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0" dirty="0">
                          <a:solidFill>
                            <a:schemeClr val="tx1"/>
                          </a:solidFill>
                        </a:rPr>
                        <a:t>consolelog.css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3762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fsystem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kern="120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fsystem</a:t>
                      </a:r>
                      <a:endParaRPr lang="de-DE" sz="1800" kern="120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ea typeface="+mn-ea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filesystem.css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11061"/>
                  </a:ext>
                </a:extLst>
              </a:tr>
            </a:tbl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328458E2-F586-AADA-4F83-65A5EBEB1F80}"/>
              </a:ext>
            </a:extLst>
          </p:cNvPr>
          <p:cNvSpPr txBox="1"/>
          <p:nvPr/>
        </p:nvSpPr>
        <p:spPr>
          <a:xfrm>
            <a:off x="266699" y="3530307"/>
            <a:ext cx="9552549" cy="16881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pythoncode.css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robotcode.css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and 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jsoncode.css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contain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syntax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highlighting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pcode.css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rcode.css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and </a:t>
            </a:r>
            <a:r>
              <a:rPr kumimoji="0" lang="de-DE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jcode</a:t>
            </a:r>
            <a:r>
              <a:rPr lang="de-DE" sz="1200" b="1" kern="0" dirty="0">
                <a:solidFill>
                  <a:srgbClr val="000000"/>
                </a:solidFill>
              </a:rPr>
              <a:t>.</a:t>
            </a:r>
            <a:r>
              <a:rPr lang="de-DE" sz="1200" b="1" kern="0" dirty="0" err="1">
                <a:solidFill>
                  <a:srgbClr val="000000"/>
                </a:solidFill>
              </a:rPr>
              <a:t>css</a:t>
            </a:r>
            <a:r>
              <a:rPr lang="de-DE" sz="1200" kern="0" dirty="0">
                <a:solidFill>
                  <a:srgbClr val="000000"/>
                </a:solidFill>
              </a:rPr>
              <a:t> do not </a:t>
            </a:r>
            <a:r>
              <a:rPr lang="de-DE" sz="1200" kern="0" dirty="0" err="1">
                <a:solidFill>
                  <a:srgbClr val="000000"/>
                </a:solidFill>
              </a:rPr>
              <a:t>contain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syntax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highlighting</a:t>
            </a:r>
            <a:r>
              <a:rPr lang="de-DE" sz="1200" kern="0" dirty="0">
                <a:solidFill>
                  <a:srgbClr val="000000"/>
                </a:solidFill>
              </a:rPr>
              <a:t>. </a:t>
            </a:r>
            <a:r>
              <a:rPr lang="de-DE" sz="1200" kern="0" dirty="0" err="1">
                <a:solidFill>
                  <a:srgbClr val="000000"/>
                </a:solidFill>
              </a:rPr>
              <a:t>To</a:t>
            </a:r>
            <a:r>
              <a:rPr lang="de-DE" sz="1200" kern="0" dirty="0">
                <a:solidFill>
                  <a:srgbClr val="000000"/>
                </a:solidFill>
              </a:rPr>
              <a:t> switch off </a:t>
            </a:r>
            <a:r>
              <a:rPr lang="de-DE" sz="1200" kern="0" dirty="0" err="1">
                <a:solidFill>
                  <a:srgbClr val="000000"/>
                </a:solidFill>
              </a:rPr>
              <a:t>the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syntax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highlighting</a:t>
            </a:r>
            <a:r>
              <a:rPr lang="de-DE" sz="1200" kern="0" dirty="0">
                <a:solidFill>
                  <a:srgbClr val="000000"/>
                </a:solidFill>
              </a:rPr>
              <a:t> in inline code, </a:t>
            </a:r>
            <a:r>
              <a:rPr lang="de-DE" sz="1200" kern="0" dirty="0" err="1">
                <a:solidFill>
                  <a:srgbClr val="000000"/>
                </a:solidFill>
              </a:rPr>
              <a:t>the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elements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  <a:latin typeface="72 Monospace" panose="020B0509030603020204" pitchFamily="49" charset="0"/>
                <a:cs typeface="72 Monospace" panose="020B0509030603020204" pitchFamily="49" charset="0"/>
              </a:rPr>
              <a:t>pcode</a:t>
            </a:r>
            <a:r>
              <a:rPr lang="de-DE" sz="1200" kern="0" dirty="0">
                <a:solidFill>
                  <a:srgbClr val="000000"/>
                </a:solidFill>
              </a:rPr>
              <a:t>, </a:t>
            </a:r>
            <a:r>
              <a:rPr lang="de-DE" sz="1200" kern="0" dirty="0" err="1">
                <a:solidFill>
                  <a:srgbClr val="000000"/>
                </a:solidFill>
                <a:latin typeface="72 Monospace" panose="020B0509030603020204" pitchFamily="49" charset="0"/>
                <a:cs typeface="72 Monospace" panose="020B0509030603020204" pitchFamily="49" charset="0"/>
              </a:rPr>
              <a:t>rcode</a:t>
            </a:r>
            <a:r>
              <a:rPr lang="de-DE" sz="1200" kern="0" dirty="0">
                <a:solidFill>
                  <a:srgbClr val="000000"/>
                </a:solidFill>
              </a:rPr>
              <a:t> and </a:t>
            </a:r>
            <a:r>
              <a:rPr lang="de-DE" sz="1200" kern="0" dirty="0" err="1">
                <a:solidFill>
                  <a:srgbClr val="000000"/>
                </a:solidFill>
                <a:latin typeface="72 Monospace" panose="020B0509030603020204" pitchFamily="49" charset="0"/>
                <a:cs typeface="72 Monospace" panose="020B0509030603020204" pitchFamily="49" charset="0"/>
              </a:rPr>
              <a:t>jcode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are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mapped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to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the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stylesheets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b="1" kern="0" dirty="0">
                <a:solidFill>
                  <a:srgbClr val="000000"/>
                </a:solidFill>
              </a:rPr>
              <a:t>pcode.css</a:t>
            </a:r>
            <a:r>
              <a:rPr lang="de-DE" sz="1200" kern="0" dirty="0">
                <a:solidFill>
                  <a:srgbClr val="000000"/>
                </a:solidFill>
              </a:rPr>
              <a:t>, </a:t>
            </a:r>
            <a:r>
              <a:rPr lang="de-DE" sz="1200" b="1" kern="0" dirty="0">
                <a:solidFill>
                  <a:srgbClr val="000000"/>
                </a:solidFill>
              </a:rPr>
              <a:t>rcode.css</a:t>
            </a:r>
            <a:r>
              <a:rPr lang="de-DE" sz="1200" kern="0" dirty="0">
                <a:solidFill>
                  <a:srgbClr val="000000"/>
                </a:solidFill>
              </a:rPr>
              <a:t> and </a:t>
            </a:r>
            <a:r>
              <a:rPr lang="de-DE" sz="1200" b="1" kern="0" dirty="0">
                <a:solidFill>
                  <a:srgbClr val="000000"/>
                </a:solidFill>
              </a:rPr>
              <a:t>jcode.css</a:t>
            </a:r>
            <a:r>
              <a:rPr lang="de-DE" sz="1200" kern="0" dirty="0">
                <a:solidFill>
                  <a:srgbClr val="000000"/>
                </a:solidFill>
              </a:rPr>
              <a:t>. In </a:t>
            </a:r>
            <a:r>
              <a:rPr lang="de-DE" sz="1200" kern="0" dirty="0" err="1">
                <a:solidFill>
                  <a:srgbClr val="000000"/>
                </a:solidFill>
              </a:rPr>
              <a:t>LaTeX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this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is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handled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internally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by</a:t>
            </a:r>
            <a:r>
              <a:rPr lang="de-DE" sz="1200" kern="0" dirty="0">
                <a:solidFill>
                  <a:srgbClr val="000000"/>
                </a:solidFill>
              </a:rPr>
              <a:t> alternative </a:t>
            </a:r>
            <a:r>
              <a:rPr lang="de-DE" sz="1200" kern="0" dirty="0" err="1">
                <a:solidFill>
                  <a:srgbClr val="000000"/>
                </a:solidFill>
              </a:rPr>
              <a:t>language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definitions</a:t>
            </a:r>
            <a:r>
              <a:rPr lang="de-DE" sz="1200" kern="0" dirty="0">
                <a:solidFill>
                  <a:srgbClr val="000000"/>
                </a:solidFill>
              </a:rPr>
              <a:t>, </a:t>
            </a:r>
            <a:r>
              <a:rPr lang="de-DE" sz="1200" kern="0" dirty="0" err="1">
                <a:solidFill>
                  <a:srgbClr val="000000"/>
                </a:solidFill>
              </a:rPr>
              <a:t>mapped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to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  <a:latin typeface="72 Monospace" panose="020B0509030603020204" pitchFamily="49" charset="0"/>
                <a:cs typeface="72 Monospace" panose="020B0509030603020204" pitchFamily="49" charset="0"/>
              </a:rPr>
              <a:t>pcode</a:t>
            </a:r>
            <a:r>
              <a:rPr lang="de-DE" sz="1200" kern="0" dirty="0">
                <a:solidFill>
                  <a:srgbClr val="000000"/>
                </a:solidFill>
              </a:rPr>
              <a:t>, </a:t>
            </a:r>
            <a:r>
              <a:rPr lang="de-DE" sz="1200" kern="0" dirty="0" err="1">
                <a:solidFill>
                  <a:srgbClr val="000000"/>
                </a:solidFill>
                <a:latin typeface="72 Monospace" panose="020B0509030603020204" pitchFamily="49" charset="0"/>
                <a:cs typeface="72 Monospace" panose="020B0509030603020204" pitchFamily="49" charset="0"/>
              </a:rPr>
              <a:t>rcode</a:t>
            </a:r>
            <a:r>
              <a:rPr lang="de-DE" sz="1200" kern="0" dirty="0">
                <a:solidFill>
                  <a:srgbClr val="000000"/>
                </a:solidFill>
              </a:rPr>
              <a:t> and </a:t>
            </a:r>
            <a:r>
              <a:rPr lang="de-DE" sz="1200" kern="0" dirty="0" err="1">
                <a:solidFill>
                  <a:srgbClr val="000000"/>
                </a:solidFill>
                <a:latin typeface="72 Monospace" panose="020B0509030603020204" pitchFamily="49" charset="0"/>
                <a:cs typeface="72 Monospace" panose="020B0509030603020204" pitchFamily="49" charset="0"/>
              </a:rPr>
              <a:t>jcode</a:t>
            </a:r>
            <a:r>
              <a:rPr lang="de-DE" sz="1200" kern="0" dirty="0">
                <a:solidFill>
                  <a:srgbClr val="000000"/>
                </a:solidFill>
                <a:latin typeface="72 Monospace" panose="020B0509030603020204" pitchFamily="49" charset="0"/>
                <a:cs typeface="72 Monospace" panose="020B0509030603020204" pitchFamily="49" charset="0"/>
              </a:rPr>
              <a:t>.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200" b="1" kern="0" dirty="0">
                <a:solidFill>
                  <a:srgbClr val="000000"/>
                </a:solidFill>
              </a:rPr>
              <a:t>consolelog.css</a:t>
            </a:r>
            <a:r>
              <a:rPr lang="de-DE" sz="1200" kern="0" dirty="0">
                <a:solidFill>
                  <a:srgbClr val="000000"/>
                </a:solidFill>
              </a:rPr>
              <a:t> and </a:t>
            </a:r>
            <a:r>
              <a:rPr lang="de-DE" sz="1200" b="1" kern="0" dirty="0">
                <a:solidFill>
                  <a:srgbClr val="000000"/>
                </a:solidFill>
              </a:rPr>
              <a:t>filesystem.css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are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without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syntax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highlighting</a:t>
            </a:r>
            <a:r>
              <a:rPr lang="de-DE" sz="1200" kern="0" dirty="0">
                <a:solidFill>
                  <a:srgbClr val="000000"/>
                </a:solidFill>
              </a:rPr>
              <a:t> (</a:t>
            </a:r>
            <a:r>
              <a:rPr lang="de-DE" sz="1200" kern="0" dirty="0" err="1">
                <a:solidFill>
                  <a:srgbClr val="000000"/>
                </a:solidFill>
              </a:rPr>
              <a:t>therefore</a:t>
            </a:r>
            <a:r>
              <a:rPr lang="de-DE" sz="1200" kern="0" dirty="0">
                <a:solidFill>
                  <a:srgbClr val="000000"/>
                </a:solidFill>
              </a:rPr>
              <a:t>, </a:t>
            </a:r>
            <a:r>
              <a:rPr lang="de-DE" sz="1200" b="1" kern="0" dirty="0">
                <a:solidFill>
                  <a:srgbClr val="000000"/>
                </a:solidFill>
              </a:rPr>
              <a:t>clog.css</a:t>
            </a:r>
            <a:r>
              <a:rPr lang="de-DE" sz="1200" kern="0" dirty="0">
                <a:solidFill>
                  <a:srgbClr val="000000"/>
                </a:solidFill>
              </a:rPr>
              <a:t> and </a:t>
            </a:r>
            <a:r>
              <a:rPr lang="de-DE" sz="1200" b="1" kern="0" dirty="0">
                <a:solidFill>
                  <a:srgbClr val="000000"/>
                </a:solidFill>
              </a:rPr>
              <a:t>fsystem.css</a:t>
            </a:r>
            <a:r>
              <a:rPr lang="de-DE" sz="1200" kern="0" dirty="0">
                <a:solidFill>
                  <a:srgbClr val="000000"/>
                </a:solidFill>
              </a:rPr>
              <a:t> </a:t>
            </a:r>
            <a:r>
              <a:rPr lang="de-DE" sz="1200" kern="0" dirty="0" err="1">
                <a:solidFill>
                  <a:srgbClr val="000000"/>
                </a:solidFill>
              </a:rPr>
              <a:t>are</a:t>
            </a:r>
            <a:r>
              <a:rPr lang="de-DE" sz="1200" kern="0" dirty="0">
                <a:solidFill>
                  <a:srgbClr val="000000"/>
                </a:solidFill>
              </a:rPr>
              <a:t> not </a:t>
            </a:r>
            <a:r>
              <a:rPr lang="de-DE" sz="1200" kern="0" dirty="0" err="1">
                <a:solidFill>
                  <a:srgbClr val="000000"/>
                </a:solidFill>
              </a:rPr>
              <a:t>required</a:t>
            </a:r>
            <a:r>
              <a:rPr lang="de-DE" sz="1200" kern="0" dirty="0">
                <a:solidFill>
                  <a:srgbClr val="000000"/>
                </a:solidFill>
              </a:rPr>
              <a:t>).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840DE00-FB8E-4F60-8BE8-6B8AA6B5C07D}"/>
              </a:ext>
            </a:extLst>
          </p:cNvPr>
          <p:cNvSpPr txBox="1"/>
          <p:nvPr/>
        </p:nvSpPr>
        <p:spPr>
          <a:xfrm>
            <a:off x="266700" y="3098798"/>
            <a:ext cx="6492826" cy="410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Mapping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between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markdown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syntax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element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(RST),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LaTeX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syntax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element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(PDF) and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css</a:t>
            </a:r>
            <a:r>
              <a:rPr kumimoji="0" lang="de-DE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stylesheet</a:t>
            </a:r>
            <a:r>
              <a:rPr lang="de-DE" sz="900" i="1" kern="0" dirty="0">
                <a:solidFill>
                  <a:srgbClr val="000000"/>
                </a:solidFill>
              </a:rPr>
              <a:t> (HTML).</a:t>
            </a:r>
            <a:endParaRPr kumimoji="0" lang="de-DE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8670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1D6F-FAE1-3A03-95F7-224B955C9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E1B6A8-4B7E-3643-FC4A-D34339C950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Language Elements (Mapping)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FF1350-4D0B-897D-634C-2B0BDD1A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D86E975-DA2A-1856-55A8-875B33FC9504}"/>
              </a:ext>
            </a:extLst>
          </p:cNvPr>
          <p:cNvSpPr txBox="1"/>
          <p:nvPr/>
        </p:nvSpPr>
        <p:spPr>
          <a:xfrm>
            <a:off x="266700" y="702701"/>
            <a:ext cx="9552549" cy="67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With </a:t>
            </a:r>
            <a:r>
              <a:rPr kumimoji="0" lang="de-DE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GenPackageDoc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version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0.43.0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language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elements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have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been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reworked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Some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of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them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deprecated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now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ensure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downward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compatibility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they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mapped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new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ones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2EE17DCA-E182-C525-F371-A8547C399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345178"/>
              </p:ext>
            </p:extLst>
          </p:nvPr>
        </p:nvGraphicFramePr>
        <p:xfrm>
          <a:off x="259200" y="1233792"/>
          <a:ext cx="10283832" cy="41904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645288">
                  <a:extLst>
                    <a:ext uri="{9D8B030D-6E8A-4147-A177-3AD203B41FA5}">
                      <a16:colId xmlns:a16="http://schemas.microsoft.com/office/drawing/2014/main" val="43910445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3741258493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562324463"/>
                    </a:ext>
                  </a:extLst>
                </a:gridCol>
              </a:tblGrid>
              <a:tr h="376203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LaTeX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/PDF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5149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/NL 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newline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i="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newline</a:t>
                      </a:r>
                      <a:endParaRPr lang="de-DE" i="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&lt;</a:t>
                      </a:r>
                      <a:r>
                        <a:rPr lang="de-DE" dirty="0" err="1"/>
                        <a:t>br</a:t>
                      </a:r>
                      <a:r>
                        <a:rPr lang="de-DE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4389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/NP 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newpage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i="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newpage</a:t>
                      </a:r>
                      <a:endParaRPr lang="de-DE" i="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""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48865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/VS 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vertical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 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space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 1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i="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vspace</a:t>
                      </a:r>
                      <a:r>
                        <a:rPr lang="de-DE" i="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{1ex}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display:block</a:t>
                      </a:r>
                      <a:r>
                        <a:rPr lang="de-DE" sz="14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; height:1ex;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46556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/VVS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vertical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 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space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 2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i="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vspace</a:t>
                      </a:r>
                      <a:r>
                        <a:rPr lang="de-DE" i="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{2ex}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display:block</a:t>
                      </a:r>
                      <a:r>
                        <a:rPr lang="de-DE" sz="14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; height:2ex;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3762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/VVVS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vertical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 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space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 3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sz="1800" i="0" kern="120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vspace</a:t>
                      </a:r>
                      <a:r>
                        <a:rPr lang="de-DE" sz="1800" i="0" kern="1200" dirty="0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{3ex}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display:block</a:t>
                      </a:r>
                      <a:r>
                        <a:rPr lang="de-DE" sz="1400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; height:3ex;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11061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/BS 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backslash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sz="1800" i="0" kern="1200" dirty="0" err="1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textbackslash</a:t>
                      </a: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\\</a:t>
                      </a:r>
                      <a:endParaRPr lang="de-DE" sz="180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335331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/IBS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inline 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backslash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\\</a:t>
                      </a:r>
                      <a:endParaRPr lang="de-DE" sz="180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40130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/HS 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horizontal 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space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{\</a:t>
                      </a:r>
                      <a:r>
                        <a:rPr lang="de-DE" sz="1800" i="0" kern="1200" dirty="0" err="1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ttfamily</a:t>
                      </a: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sz="1800" i="0" kern="1200" dirty="0" err="1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hspace</a:t>
                      </a: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{0.6em}}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&amp;nbsp;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026879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/IHS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>
                          <a:latin typeface="+mn-lt"/>
                          <a:cs typeface="72 Monospace" panose="020B0509030603020204" pitchFamily="49" charset="0"/>
                        </a:rPr>
                        <a:t>inline horizontal 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space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{\</a:t>
                      </a:r>
                      <a:r>
                        <a:rPr lang="de-DE" sz="1800" i="0" kern="1200" dirty="0" err="1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ttfamily</a:t>
                      </a: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</a:t>
                      </a:r>
                      <a:r>
                        <a:rPr lang="de-DE" sz="1800" i="0" kern="1200" dirty="0" err="1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hspace</a:t>
                      </a: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{0.6em}}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&amp;nbsp;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298133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/US    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(</a:t>
                      </a:r>
                      <a:r>
                        <a:rPr lang="de-DE" i="1" dirty="0" err="1">
                          <a:latin typeface="+mn-lt"/>
                          <a:cs typeface="72 Monospace" panose="020B0509030603020204" pitchFamily="49" charset="0"/>
                        </a:rPr>
                        <a:t>underscore</a:t>
                      </a:r>
                      <a:r>
                        <a:rPr lang="de-DE" dirty="0">
                          <a:latin typeface="+mn-lt"/>
                          <a:cs typeface="72 Monospace" panose="020B0509030603020204" pitchFamily="49" charset="0"/>
                        </a:rPr>
                        <a:t>)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\_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i="0" kern="1200" dirty="0">
                          <a:solidFill>
                            <a:schemeClr val="dk1"/>
                          </a:solidFill>
                          <a:latin typeface="72 Monospace" panose="020B0509030603020204" pitchFamily="49" charset="0"/>
                          <a:ea typeface="+mn-ea"/>
                          <a:cs typeface="72 Monospace" panose="020B0509030603020204" pitchFamily="49" charset="0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948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85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EA5F8-D040-5CB0-80C3-ED4594DD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98C15C-97A1-8F10-D153-D35BC9354F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Syntax </a:t>
            </a:r>
            <a:r>
              <a:rPr lang="de-DE" dirty="0" err="1"/>
              <a:t>Extensions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E5387B-2285-58C4-1B33-9DAE6E80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A547D8A-7D1B-3741-9A6E-A9BC10FAEA33}"/>
              </a:ext>
            </a:extLst>
          </p:cNvPr>
          <p:cNvSpPr txBox="1"/>
          <p:nvPr/>
        </p:nvSpPr>
        <p:spPr>
          <a:xfrm>
            <a:off x="266700" y="702701"/>
            <a:ext cx="9552549" cy="3888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Additional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reST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syntax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elements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that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are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mapped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LaTeX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output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and HTML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output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in a different </a:t>
            </a:r>
            <a:r>
              <a:rPr kumimoji="0" lang="de-DE" sz="1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way</a:t>
            </a:r>
            <a:r>
              <a:rPr kumimoji="0" lang="de-DE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2D779D1B-6671-E156-62C6-8ADCB1C07B61}"/>
              </a:ext>
            </a:extLst>
          </p:cNvPr>
          <p:cNvGraphicFramePr>
            <a:graphicFrameLocks noGrp="1"/>
          </p:cNvGraphicFramePr>
          <p:nvPr/>
        </p:nvGraphicFramePr>
        <p:xfrm>
          <a:off x="2056813" y="1644350"/>
          <a:ext cx="5972322" cy="26647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95456">
                  <a:extLst>
                    <a:ext uri="{9D8B030D-6E8A-4147-A177-3AD203B41FA5}">
                      <a16:colId xmlns:a16="http://schemas.microsoft.com/office/drawing/2014/main" val="43910445"/>
                    </a:ext>
                  </a:extLst>
                </a:gridCol>
                <a:gridCol w="2976866">
                  <a:extLst>
                    <a:ext uri="{9D8B030D-6E8A-4147-A177-3AD203B41FA5}">
                      <a16:colId xmlns:a16="http://schemas.microsoft.com/office/drawing/2014/main" val="3741258493"/>
                    </a:ext>
                  </a:extLst>
                </a:gridCol>
              </a:tblGrid>
              <a:tr h="376203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Old (</a:t>
                      </a:r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deprecated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Successor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5149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pythonlog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consolelog</a:t>
                      </a:r>
                      <a:endParaRPr lang="de-DE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4389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python</a:t>
                      </a:r>
                      <a:r>
                        <a:rPr lang="de-DE" b="1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log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</a:t>
                      </a:r>
                      <a:r>
                        <a:rPr lang="de-DE" b="1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log</a:t>
                      </a:r>
                      <a:endParaRPr lang="de-DE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48865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robotlog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consolelog</a:t>
                      </a:r>
                      <a:endParaRPr lang="de-DE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46556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robot</a:t>
                      </a:r>
                      <a:r>
                        <a:rPr lang="de-DE" b="1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log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console</a:t>
                      </a:r>
                      <a:r>
                        <a:rPr lang="de-DE" b="1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s</a:t>
                      </a:r>
                      <a:r>
                        <a:rPr lang="de-DE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log</a:t>
                      </a:r>
                      <a:endParaRPr lang="de-DE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3762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plog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clog</a:t>
                      </a:r>
                      <a:endParaRPr lang="de-DE" i="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333172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rlog</a:t>
                      </a:r>
                      <a:endParaRPr lang="de-DE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0" dirty="0" err="1">
                          <a:solidFill>
                            <a:schemeClr val="tx1"/>
                          </a:solidFill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clog</a:t>
                      </a:r>
                      <a:endParaRPr lang="de-DE" i="0" dirty="0">
                        <a:solidFill>
                          <a:schemeClr val="tx1"/>
                        </a:solidFill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374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61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7F1B4-F99A-DAD2-60F7-B942F12F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FF3199-BE56-B197-5239-B747C6874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Code Objects (1)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C51A7F-A986-AEAF-77ED-843F1644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2" name="Textfeld 116">
            <a:extLst>
              <a:ext uri="{FF2B5EF4-FFF2-40B4-BE49-F238E27FC236}">
                <a16:creationId xmlns:a16="http://schemas.microsoft.com/office/drawing/2014/main" id="{7DF23566-553D-D8ED-E7E6-BC99800E6203}"/>
              </a:ext>
            </a:extLst>
          </p:cNvPr>
          <p:cNvSpPr txBox="1"/>
          <p:nvPr/>
        </p:nvSpPr>
        <p:spPr>
          <a:xfrm>
            <a:off x="266700" y="849988"/>
            <a:ext cx="5338234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b="1" kern="0" dirty="0" err="1">
                <a:solidFill>
                  <a:srgbClr val="000000"/>
                </a:solidFill>
              </a:rPr>
              <a:t>class</a:t>
            </a:r>
            <a:r>
              <a:rPr lang="de-DE" b="1" kern="0" dirty="0">
                <a:solidFill>
                  <a:srgbClr val="000000"/>
                </a:solidFill>
              </a:rPr>
              <a:t> </a:t>
            </a:r>
            <a:r>
              <a:rPr lang="de-DE" b="1" kern="0" dirty="0" err="1">
                <a:solidFill>
                  <a:srgbClr val="000000"/>
                </a:solidFill>
              </a:rPr>
              <a:t>CustomHTMLTranslator</a:t>
            </a:r>
            <a:r>
              <a:rPr lang="de-DE" b="1" kern="0" dirty="0">
                <a:solidFill>
                  <a:srgbClr val="000000"/>
                </a:solidFill>
              </a:rPr>
              <a:t>(</a:t>
            </a:r>
            <a:r>
              <a:rPr lang="de-DE" b="1" kern="0" dirty="0" err="1">
                <a:solidFill>
                  <a:srgbClr val="000000"/>
                </a:solidFill>
              </a:rPr>
              <a:t>HTMLTranslator</a:t>
            </a:r>
            <a:r>
              <a:rPr lang="de-DE" b="1" kern="0" dirty="0">
                <a:solidFill>
                  <a:srgbClr val="000000"/>
                </a:solidFill>
              </a:rPr>
              <a:t>):</a:t>
            </a:r>
          </a:p>
        </p:txBody>
      </p:sp>
      <p:graphicFrame>
        <p:nvGraphicFramePr>
          <p:cNvPr id="38" name="Tabelle 37">
            <a:extLst>
              <a:ext uri="{FF2B5EF4-FFF2-40B4-BE49-F238E27FC236}">
                <a16:creationId xmlns:a16="http://schemas.microsoft.com/office/drawing/2014/main" id="{8FAA3200-695A-C93C-EB53-79394DB42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028892"/>
              </p:ext>
            </p:extLst>
          </p:nvPr>
        </p:nvGraphicFramePr>
        <p:xfrm>
          <a:off x="259200" y="1238788"/>
          <a:ext cx="10298733" cy="38090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32911">
                  <a:extLst>
                    <a:ext uri="{9D8B030D-6E8A-4147-A177-3AD203B41FA5}">
                      <a16:colId xmlns:a16="http://schemas.microsoft.com/office/drawing/2014/main" val="43910445"/>
                    </a:ext>
                  </a:extLst>
                </a:gridCol>
                <a:gridCol w="3432911">
                  <a:extLst>
                    <a:ext uri="{9D8B030D-6E8A-4147-A177-3AD203B41FA5}">
                      <a16:colId xmlns:a16="http://schemas.microsoft.com/office/drawing/2014/main" val="3741258493"/>
                    </a:ext>
                  </a:extLst>
                </a:gridCol>
                <a:gridCol w="3432911">
                  <a:extLst>
                    <a:ext uri="{9D8B030D-6E8A-4147-A177-3AD203B41FA5}">
                      <a16:colId xmlns:a16="http://schemas.microsoft.com/office/drawing/2014/main" val="2562324463"/>
                    </a:ext>
                  </a:extLst>
                </a:gridCol>
              </a:tblGrid>
              <a:tr h="376203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Lexer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Formatter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5149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/>
                        <a:t>pythoncode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PythonLexer()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4389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/>
                        <a:t>pythonlog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 dirty="0">
                          <a:solidFill>
                            <a:srgbClr val="C00000"/>
                          </a:solidFill>
                        </a:rPr>
                        <a:t>To be clarified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48865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/>
                        <a:t>robotcode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1" dirty="0">
                          <a:solidFill>
                            <a:srgbClr val="C00000"/>
                          </a:solidFill>
                        </a:rPr>
                        <a:t>To be clarified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46556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/>
                        <a:t>robotlog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1" dirty="0">
                          <a:solidFill>
                            <a:srgbClr val="C00000"/>
                          </a:solidFill>
                        </a:rPr>
                        <a:t>To be clarified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3762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/>
                        <a:t>jsoncode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JsonLexer()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11061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/>
                        <a:t>pcode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PythonLexer()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1904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/>
                        <a:t>plog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1" dirty="0">
                          <a:solidFill>
                            <a:srgbClr val="C00000"/>
                          </a:solidFill>
                        </a:rPr>
                        <a:t>To be clarified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97290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/>
                        <a:t>rcode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1" dirty="0">
                          <a:solidFill>
                            <a:srgbClr val="C00000"/>
                          </a:solidFill>
                        </a:rPr>
                        <a:t>To be clarified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8661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r>
                        <a:rPr lang="de-DE" dirty="0" err="1"/>
                        <a:t>rlog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i="1" dirty="0">
                          <a:solidFill>
                            <a:srgbClr val="C00000"/>
                          </a:solidFill>
                        </a:rPr>
                        <a:t>To be clarified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HtmlFormatter()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625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90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B0B3-6C56-A6F9-D687-40D1C5E1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CE1218-8F37-EF62-5767-F9500A4AA1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Code Objects (2)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741DED-A3B8-781D-FAFD-62F2AB75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2" name="Textfeld 116">
            <a:extLst>
              <a:ext uri="{FF2B5EF4-FFF2-40B4-BE49-F238E27FC236}">
                <a16:creationId xmlns:a16="http://schemas.microsoft.com/office/drawing/2014/main" id="{D9D477F7-6B63-6CCC-5ED1-02DD6EA87A92}"/>
              </a:ext>
            </a:extLst>
          </p:cNvPr>
          <p:cNvSpPr txBox="1"/>
          <p:nvPr/>
        </p:nvSpPr>
        <p:spPr>
          <a:xfrm>
            <a:off x="266699" y="849988"/>
            <a:ext cx="5465233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b="1" kern="0" dirty="0" err="1">
                <a:solidFill>
                  <a:srgbClr val="000000"/>
                </a:solidFill>
              </a:rPr>
              <a:t>class</a:t>
            </a:r>
            <a:r>
              <a:rPr lang="de-DE" b="1" kern="0" dirty="0">
                <a:solidFill>
                  <a:srgbClr val="000000"/>
                </a:solidFill>
              </a:rPr>
              <a:t> </a:t>
            </a:r>
            <a:r>
              <a:rPr lang="de-DE" b="1" kern="0" dirty="0" err="1">
                <a:solidFill>
                  <a:srgbClr val="000000"/>
                </a:solidFill>
              </a:rPr>
              <a:t>CustomLaTeXTranslator</a:t>
            </a:r>
            <a:r>
              <a:rPr lang="de-DE" b="1" kern="0" dirty="0">
                <a:solidFill>
                  <a:srgbClr val="000000"/>
                </a:solidFill>
              </a:rPr>
              <a:t>(</a:t>
            </a:r>
            <a:r>
              <a:rPr lang="de-DE" b="1" kern="0" dirty="0" err="1">
                <a:solidFill>
                  <a:srgbClr val="000000"/>
                </a:solidFill>
              </a:rPr>
              <a:t>LaTeXTranslator</a:t>
            </a:r>
            <a:r>
              <a:rPr lang="de-DE" b="1" kern="0" dirty="0">
                <a:solidFill>
                  <a:srgbClr val="000000"/>
                </a:solidFill>
              </a:rPr>
              <a:t>):</a:t>
            </a:r>
          </a:p>
        </p:txBody>
      </p:sp>
      <p:graphicFrame>
        <p:nvGraphicFramePr>
          <p:cNvPr id="38" name="Tabelle 37">
            <a:extLst>
              <a:ext uri="{FF2B5EF4-FFF2-40B4-BE49-F238E27FC236}">
                <a16:creationId xmlns:a16="http://schemas.microsoft.com/office/drawing/2014/main" id="{A0C64C4A-3F37-0BFB-E1E8-F3396992A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57365"/>
              </p:ext>
            </p:extLst>
          </p:nvPr>
        </p:nvGraphicFramePr>
        <p:xfrm>
          <a:off x="259200" y="1238788"/>
          <a:ext cx="10298733" cy="249020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32911">
                  <a:extLst>
                    <a:ext uri="{9D8B030D-6E8A-4147-A177-3AD203B41FA5}">
                      <a16:colId xmlns:a16="http://schemas.microsoft.com/office/drawing/2014/main" val="43910445"/>
                    </a:ext>
                  </a:extLst>
                </a:gridCol>
                <a:gridCol w="3432911">
                  <a:extLst>
                    <a:ext uri="{9D8B030D-6E8A-4147-A177-3AD203B41FA5}">
                      <a16:colId xmlns:a16="http://schemas.microsoft.com/office/drawing/2014/main" val="3741258493"/>
                    </a:ext>
                  </a:extLst>
                </a:gridCol>
                <a:gridCol w="3432911">
                  <a:extLst>
                    <a:ext uri="{9D8B030D-6E8A-4147-A177-3AD203B41FA5}">
                      <a16:colId xmlns:a16="http://schemas.microsoft.com/office/drawing/2014/main" val="2562324463"/>
                    </a:ext>
                  </a:extLst>
                </a:gridCol>
              </a:tblGrid>
              <a:tr h="478523"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Markdown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LaTeX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Realized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by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51498"/>
                  </a:ext>
                </a:extLst>
              </a:tr>
              <a:tr h="485169">
                <a:tc>
                  <a:txBody>
                    <a:bodyPr/>
                    <a:lstStyle/>
                    <a:p>
                      <a:r>
                        <a:rPr lang="de-DE" dirty="0" err="1"/>
                        <a:t>directive</a:t>
                      </a:r>
                      <a:r>
                        <a:rPr lang="de-DE" dirty="0"/>
                        <a:t>/</a:t>
                      </a:r>
                      <a:r>
                        <a:rPr lang="de-DE" dirty="0" err="1"/>
                        <a:t>rule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environment</a:t>
                      </a:r>
                      <a:r>
                        <a:rPr lang="de-DE" dirty="0"/>
                        <a:t>/</a:t>
                      </a:r>
                      <a:r>
                        <a:rPr lang="de-DE" dirty="0" err="1"/>
                        <a:t>command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from </a:t>
                      </a:r>
                      <a:r>
                        <a:rPr lang="en-US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docutils.core</a:t>
                      </a:r>
                      <a:r>
                        <a:rPr lang="en-US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 import </a:t>
                      </a:r>
                      <a:r>
                        <a:rPr lang="en-US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publish_parts</a:t>
                      </a:r>
                      <a:endParaRPr lang="en-US" dirty="0">
                        <a:latin typeface="72 Monospace" panose="020B0509030603020204" pitchFamily="49" charset="0"/>
                        <a:cs typeface="72 Monospace" panose="020B0509030603020204" pitchFamily="49" charset="0"/>
                      </a:endParaRP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With:</a:t>
                      </a:r>
                    </a:p>
                    <a:p>
                      <a:endParaRPr lang="en-US" dirty="0"/>
                    </a:p>
                    <a:p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writer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=</a:t>
                      </a:r>
                      <a:r>
                        <a:rPr lang="de-DE" dirty="0" err="1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CustomLaTeXWriter</a:t>
                      </a:r>
                      <a:r>
                        <a:rPr lang="de-DE" dirty="0">
                          <a:latin typeface="72 Monospace" panose="020B0509030603020204" pitchFamily="49" charset="0"/>
                          <a:cs typeface="72 Monospace" panose="020B050903060302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43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922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-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-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-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-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1;-1;-1;-1;-1;-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-2"/>
</p:tagLst>
</file>

<file path=ppt/theme/theme1.xml><?xml version="1.0" encoding="utf-8"?>
<a:theme xmlns:a="http://schemas.openxmlformats.org/drawingml/2006/main" name="Bosch NG">
  <a:themeElements>
    <a:clrScheme name="Bosch_Fuchsia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A80163"/>
      </a:accent1>
      <a:accent2>
        <a:srgbClr val="D067AD"/>
      </a:accent2>
      <a:accent3>
        <a:srgbClr val="B2B3B5"/>
      </a:accent3>
      <a:accent4>
        <a:srgbClr val="424C58"/>
      </a:accent4>
      <a:accent5>
        <a:srgbClr val="3F136C"/>
      </a:accent5>
      <a:accent6>
        <a:srgbClr val="967CB1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F7EF9966-F53A-44CC-A756-EF9E132AF5E6}" vid="{BE1FDABE-663E-4397-8AF3-7005A7B11CB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elect>
  <Line>
    <Color val="D70012"/>
    <Color val="EA6876"/>
    <Color val="a80163"/>
    <Color val="D067AD"/>
    <Color val="3f136c"/>
    <Color val="967CB1"/>
    <Color val="08427e"/>
    <Color val="6D9ABC"/>
    <Color val="0e78c5"/>
    <Color val="6FB9E2"/>
    <Color val="1399a0"/>
    <Color val="6FC9CC"/>
    <Color val="67b419"/>
    <Color val="AEDB7D"/>
    <Color val="0a5139"/>
    <Color val="6EA293"/>
    <Color val="999FA6"/>
    <Color val="D7D7D7"/>
    <Color val="000000"/>
    <Color val="FFFFFF"/>
  </Line>
</sax_ColorSelect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XC-CI1/ECA3</OrgInhalt>
      <Wert>XC-CI1/ECA3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Car Multimedia GmbH 2021. All rights reserved, also regarding any disposal, exploitation, reproduction, editing, distribution, as well as in the event of applications for industrial property rights.</OrgInhalt>
      <Wert>© Robert Bosch Car Multimedia GmbH 2021.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2021-01-05</OrgInhalt>
      <Wert>2021-02-19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Cross-Domain Computing Solutions</OrgInhalt>
      <Wert>Cross-Domain Computing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0C448C28-9EEA-4021-9490-0728716AEC2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1038</Words>
  <Application>Microsoft Office PowerPoint</Application>
  <PresentationFormat>Benutzerdefiniert</PresentationFormat>
  <Paragraphs>241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72 Monospace</vt:lpstr>
      <vt:lpstr>Bosch Office Sans</vt:lpstr>
      <vt:lpstr>Calibri</vt:lpstr>
      <vt:lpstr>Courier New</vt:lpstr>
      <vt:lpstr>Wingdings 3</vt:lpstr>
      <vt:lpstr>Bosch NG</vt:lpstr>
      <vt:lpstr>genpackagedoc Concept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Queckenstedt Holger (XC-CI1/ECA3)</dc:creator>
  <cp:lastModifiedBy>Queckenstedt Holger (XC-HWP/ESC3)</cp:lastModifiedBy>
  <cp:revision>914</cp:revision>
  <dcterms:created xsi:type="dcterms:W3CDTF">2021-01-05T16:03:01Z</dcterms:created>
  <dcterms:modified xsi:type="dcterms:W3CDTF">2026-04-21T09:40:20Z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